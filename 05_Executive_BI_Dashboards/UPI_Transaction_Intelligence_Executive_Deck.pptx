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706429-0ABB-4C2F-B0E8-CE8531A89328}">
  <a:tblStyle styleId="{3B706429-0ABB-4C2F-B0E8-CE8531A893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1f93acf8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1f93acf8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a187eeed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a187eeed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b20f77e1d_14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b20f77e1d_1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b9622cb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b9622cb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b9622cb6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b9622cb6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9622cb69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9622cb6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a5246cd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a5246cd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a5246cd7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a5246cd7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b387d7ea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b387d7ea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b38c3dc7c_1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b38c3dc7c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b38c3dc7c_16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b38c3dc7c_16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38c3dc7c_16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38c3dc7c_16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b38c3dc7c_16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b38c3dc7c_16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b837dbbd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b837dbbd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b837dbbd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b837dbbd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409f87df8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409f87df8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409f87df8f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409f87df8f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ba569574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ba569574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8F9F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0"/>
            <a:ext cx="8520600" cy="163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212529"/>
                </a:solidFill>
              </a:rPr>
              <a:t>UPI Transaction Intelligence &amp; Risk Mitigation </a:t>
            </a:r>
            <a:endParaRPr b="1" sz="3600">
              <a:solidFill>
                <a:srgbClr val="212529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74250" y="1777201"/>
            <a:ext cx="8520600" cy="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C757D"/>
                </a:solidFill>
              </a:rPr>
              <a:t>Strate</a:t>
            </a:r>
            <a:r>
              <a:rPr lang="en" sz="1600">
                <a:solidFill>
                  <a:srgbClr val="6C757D"/>
                </a:solidFill>
              </a:rPr>
              <a:t>g</a:t>
            </a:r>
            <a:r>
              <a:rPr lang="en" sz="1600">
                <a:solidFill>
                  <a:srgbClr val="6C757D"/>
                </a:solidFill>
              </a:rPr>
              <a:t>ic Framework, Operational KPIs, and Threat Diagnostics</a:t>
            </a:r>
            <a:endParaRPr sz="1600">
              <a:solidFill>
                <a:srgbClr val="6C757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89869" y="3977615"/>
            <a:ext cx="2648400" cy="10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73787C"/>
                </a:solidFill>
              </a:rPr>
              <a:t>Prepared by: </a:t>
            </a:r>
            <a:r>
              <a:rPr lang="en" sz="1100">
                <a:solidFill>
                  <a:srgbClr val="73787C"/>
                </a:solidFill>
              </a:rPr>
              <a:t>Anurag</a:t>
            </a:r>
            <a:r>
              <a:rPr lang="en" sz="1100">
                <a:solidFill>
                  <a:srgbClr val="73787C"/>
                </a:solidFill>
              </a:rPr>
              <a:t> Kashyap</a:t>
            </a:r>
            <a:br>
              <a:rPr lang="en" sz="1100">
                <a:solidFill>
                  <a:srgbClr val="73787C"/>
                </a:solidFill>
              </a:rPr>
            </a:br>
            <a:r>
              <a:rPr lang="en" sz="1100">
                <a:solidFill>
                  <a:srgbClr val="73787C"/>
                </a:solidFill>
              </a:rPr>
              <a:t>Classification: Capstone Project</a:t>
            </a:r>
            <a:br>
              <a:rPr lang="en" sz="1100">
                <a:solidFill>
                  <a:srgbClr val="73787C"/>
                </a:solidFill>
              </a:rPr>
            </a:br>
            <a:r>
              <a:rPr lang="en" sz="1100">
                <a:solidFill>
                  <a:srgbClr val="73787C"/>
                </a:solidFill>
              </a:rPr>
              <a:t>Date: September 2026 </a:t>
            </a:r>
            <a:endParaRPr sz="1100">
              <a:solidFill>
                <a:srgbClr val="73787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27305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>
                <a:solidFill>
                  <a:srgbClr val="212529"/>
                </a:solidFill>
              </a:rPr>
              <a:t>Core Business &amp; Operational Challenges </a:t>
            </a:r>
            <a:endParaRPr b="1" sz="2520">
              <a:solidFill>
                <a:srgbClr val="212529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528908"/>
            <a:ext cx="8520600" cy="29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600">
                <a:solidFill>
                  <a:srgbClr val="212529"/>
                </a:solidFill>
              </a:rPr>
              <a:t>Financial &amp; Brand Trust Drag:</a:t>
            </a:r>
            <a:r>
              <a:rPr lang="en" sz="1600">
                <a:solidFill>
                  <a:srgbClr val="212529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Sophisticated fraud vectors compromise user systems, raising the platform's </a:t>
            </a:r>
            <a:r>
              <a:rPr b="1" lang="en" sz="1400">
                <a:solidFill>
                  <a:schemeClr val="dk1"/>
                </a:solidFill>
              </a:rPr>
              <a:t>Fraud Incidence Rate (FIR)</a:t>
            </a:r>
            <a:r>
              <a:rPr lang="en" sz="1400">
                <a:solidFill>
                  <a:schemeClr val="dk1"/>
                </a:solidFill>
              </a:rPr>
              <a:t> and eroding net margins </a:t>
            </a:r>
            <a:endParaRPr sz="1400">
              <a:solidFill>
                <a:srgbClr val="212529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400"/>
              <a:buChar char="●"/>
            </a:pPr>
            <a:r>
              <a:rPr b="1" lang="en" sz="1600">
                <a:solidFill>
                  <a:srgbClr val="212529"/>
                </a:solidFill>
              </a:rPr>
              <a:t>Systemic Transaction Friction:</a:t>
            </a:r>
            <a:r>
              <a:rPr lang="en" sz="1600">
                <a:solidFill>
                  <a:srgbClr val="212529"/>
                </a:solidFill>
              </a:rPr>
              <a:t> </a:t>
            </a:r>
            <a:r>
              <a:rPr lang="en" sz="1400">
                <a:solidFill>
                  <a:srgbClr val="212529"/>
                </a:solidFill>
              </a:rPr>
              <a:t>High </a:t>
            </a:r>
            <a:r>
              <a:rPr b="1" lang="en" sz="1400">
                <a:solidFill>
                  <a:srgbClr val="212529"/>
                </a:solidFill>
              </a:rPr>
              <a:t>technical declines</a:t>
            </a:r>
            <a:r>
              <a:rPr lang="en" sz="1400">
                <a:solidFill>
                  <a:srgbClr val="212529"/>
                </a:solidFill>
              </a:rPr>
              <a:t> from bank timeouts and API downtime cause checkout abandonment.</a:t>
            </a:r>
            <a:endParaRPr sz="1400">
              <a:solidFill>
                <a:srgbClr val="212529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400"/>
              <a:buChar char="●"/>
            </a:pPr>
            <a:r>
              <a:rPr b="1" lang="en" sz="1600">
                <a:solidFill>
                  <a:srgbClr val="212529"/>
                </a:solidFill>
              </a:rPr>
              <a:t>Gateway Hardware Exposure:</a:t>
            </a:r>
            <a:r>
              <a:rPr lang="en" sz="1900">
                <a:solidFill>
                  <a:srgbClr val="212529"/>
                </a:solidFill>
              </a:rPr>
              <a:t> </a:t>
            </a:r>
            <a:r>
              <a:rPr lang="en" sz="1400">
                <a:solidFill>
                  <a:srgbClr val="212529"/>
                </a:solidFill>
              </a:rPr>
              <a:t>Unchecked </a:t>
            </a:r>
            <a:r>
              <a:rPr b="1" lang="en" sz="1400">
                <a:solidFill>
                  <a:srgbClr val="212529"/>
                </a:solidFill>
              </a:rPr>
              <a:t>rooted and jailbroken user</a:t>
            </a:r>
            <a:r>
              <a:rPr lang="en" sz="1400">
                <a:solidFill>
                  <a:srgbClr val="212529"/>
                </a:solidFill>
              </a:rPr>
              <a:t> systems access the platform without device-attestation locks.</a:t>
            </a:r>
            <a:endParaRPr sz="1400">
              <a:solidFill>
                <a:srgbClr val="212529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600">
                <a:solidFill>
                  <a:srgbClr val="212529"/>
                </a:solidFill>
              </a:rPr>
              <a:t>Merchant Lifecycle Risks:</a:t>
            </a:r>
            <a:r>
              <a:rPr b="1" lang="en" sz="16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High-risk merchant categories face a lack of standardized onboarding controls, exposing the platform to massive chargeback vulnerabilities.</a:t>
            </a:r>
            <a:endParaRPr b="1" sz="1400">
              <a:solidFill>
                <a:srgbClr val="21252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29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/>
              <a:t>Strategic Analytical Goals (BI Perspective) </a:t>
            </a:r>
            <a:endParaRPr b="1" sz="2520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177200" y="1535084"/>
            <a:ext cx="8733300" cy="3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Risk Isolation &amp; Segmentation</a:t>
            </a:r>
            <a:endParaRPr b="1" sz="16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Construct data-driven profiling models to segment transactions into distinct risk tiers without slowing down safe users.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Infrastructure Root-Cause Mapping</a:t>
            </a:r>
            <a:endParaRPr b="1" sz="16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Mathematically isolate specific operational nodes (banks, device hardware, regional networks) causing technical payment drops.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Operational Control Optimization</a:t>
            </a:r>
            <a:endParaRPr b="1" sz="16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Achieve a balance between aggressive fraud risk mitigation and platform processing latency to maximize successful transaction throughput.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1779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The Enterprise KPI Framework </a:t>
            </a:r>
            <a:endParaRPr b="1" sz="3020"/>
          </a:p>
        </p:txBody>
      </p:sp>
      <p:sp>
        <p:nvSpPr>
          <p:cNvPr id="74" name="Google Shape;74;p16"/>
          <p:cNvSpPr txBox="1"/>
          <p:nvPr/>
        </p:nvSpPr>
        <p:spPr>
          <a:xfrm>
            <a:off x="8100" y="644137"/>
            <a:ext cx="4745400" cy="4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Operational Performance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• TSR: </a:t>
            </a:r>
            <a:r>
              <a:rPr lang="en">
                <a:solidFill>
                  <a:schemeClr val="dk1"/>
                </a:solidFill>
              </a:rPr>
              <a:t>(Successful Txns / Total Txns) × 100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• TDR:</a:t>
            </a:r>
            <a:r>
              <a:rPr lang="en">
                <a:solidFill>
                  <a:schemeClr val="dk1"/>
                </a:solidFill>
              </a:rPr>
              <a:t> (Platform Failures / Total Txns) × 100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• BDR:</a:t>
            </a:r>
            <a:r>
              <a:rPr lang="en">
                <a:solidFill>
                  <a:schemeClr val="dk1"/>
                </a:solidFill>
              </a:rPr>
              <a:t> (User PIN or Balance Errors / Total Txns) × 100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Risk &amp; Compliance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• FIR: </a:t>
            </a:r>
            <a:r>
              <a:rPr lang="en">
                <a:solidFill>
                  <a:schemeClr val="dk1"/>
                </a:solidFill>
              </a:rPr>
              <a:t>(Confirmed Fraud / Total Txns) × 100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• FPR:</a:t>
            </a:r>
            <a:r>
              <a:rPr lang="en">
                <a:solidFill>
                  <a:schemeClr val="dk1"/>
                </a:solidFill>
              </a:rPr>
              <a:t> Legitimate Flags / Total Actual Fraud Caught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• CDE:</a:t>
            </a:r>
            <a:r>
              <a:rPr lang="en">
                <a:solidFill>
                  <a:schemeClr val="dk1"/>
                </a:solidFill>
              </a:rPr>
              <a:t> (Compromised Devices / Total Devices) × 100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Geographic Performance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• MFR: </a:t>
            </a:r>
            <a:r>
              <a:rPr lang="en">
                <a:solidFill>
                  <a:schemeClr val="dk1"/>
                </a:solidFill>
              </a:rPr>
              <a:t>(Failures in Metro / Total Metro Txns) × 100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• NMFR:</a:t>
            </a:r>
            <a:r>
              <a:rPr lang="en">
                <a:solidFill>
                  <a:schemeClr val="dk1"/>
                </a:solidFill>
              </a:rPr>
              <a:t>(Fails in Non-Metro / Total Non-Metro Txn) × 100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4807158" y="630908"/>
            <a:ext cx="4336200" cy="4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Hypothesis 1 (Categorical Dependency)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• H₀: </a:t>
            </a:r>
            <a:r>
              <a:rPr lang="en">
                <a:solidFill>
                  <a:schemeClr val="dk1"/>
                </a:solidFill>
              </a:rPr>
              <a:t>Transaction fraud status is independent of device integrity status.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• H₁: </a:t>
            </a:r>
            <a:r>
              <a:rPr lang="en">
                <a:solidFill>
                  <a:schemeClr val="dk1"/>
                </a:solidFill>
              </a:rPr>
              <a:t>Compromised device status is a critical leading indicator of fraud.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Hypothesis 2 (Variance of Means)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• H₀: </a:t>
            </a:r>
            <a:r>
              <a:rPr lang="en">
                <a:solidFill>
                  <a:schemeClr val="dk1"/>
                </a:solidFill>
              </a:rPr>
              <a:t>Average transaction value of fraud equals legitimate transactions.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• H₁: </a:t>
            </a:r>
            <a:r>
              <a:rPr lang="en">
                <a:solidFill>
                  <a:schemeClr val="dk1"/>
                </a:solidFill>
              </a:rPr>
              <a:t>Fraudulent transactions exhibit a significantly higher mean value.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Hypothesis 3 (Geographic Infrastructure Variance)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• H₀: </a:t>
            </a:r>
            <a:r>
              <a:rPr lang="en">
                <a:solidFill>
                  <a:schemeClr val="dk1"/>
                </a:solidFill>
              </a:rPr>
              <a:t>The transaction failure rate is uniform across all geographic regions.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• H₁: </a:t>
            </a:r>
            <a:r>
              <a:rPr lang="en">
                <a:solidFill>
                  <a:schemeClr val="dk1"/>
                </a:solidFill>
              </a:rPr>
              <a:t>Non-Metro regional sectors exhibit a significantly higher failure rate due to system connectivity latency.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5"/>
              </a:spcBef>
              <a:spcAft>
                <a:spcPts val="115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62520"/>
            <a:ext cx="8520600" cy="6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1" lang="en" sz="2500"/>
              <a:t>Pre-Ingestion Data Validation &amp; Governance Gate</a:t>
            </a:r>
            <a:endParaRPr b="1" sz="2500"/>
          </a:p>
        </p:txBody>
      </p:sp>
      <p:sp>
        <p:nvSpPr>
          <p:cNvPr id="81" name="Google Shape;81;p17"/>
          <p:cNvSpPr txBox="1"/>
          <p:nvPr/>
        </p:nvSpPr>
        <p:spPr>
          <a:xfrm>
            <a:off x="82900" y="1376363"/>
            <a:ext cx="4371300" cy="3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 Referential Key Mapping (Excel Layer):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Formula Execution:</a:t>
            </a:r>
            <a:r>
              <a:rPr lang="en">
                <a:solidFill>
                  <a:schemeClr val="dk1"/>
                </a:solidFill>
              </a:rPr>
              <a:t> Deployed explicit </a:t>
            </a:r>
            <a:r>
              <a:rPr lang="en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=XLOOKUP</a:t>
            </a:r>
            <a:r>
              <a:rPr lang="en">
                <a:solidFill>
                  <a:schemeClr val="dk1"/>
                </a:solidFill>
              </a:rPr>
              <a:t> arrays to map child-to-parent linkages before database staging.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Linkage Integrity:</a:t>
            </a:r>
            <a:r>
              <a:rPr lang="en">
                <a:solidFill>
                  <a:schemeClr val="dk1"/>
                </a:solidFill>
              </a:rPr>
              <a:t> Confirmed 100% data coverage with </a:t>
            </a:r>
            <a:r>
              <a:rPr b="1" lang="en">
                <a:solidFill>
                  <a:schemeClr val="dk1"/>
                </a:solidFill>
              </a:rPr>
              <a:t>zero orphaned records</a:t>
            </a:r>
            <a:r>
              <a:rPr lang="en">
                <a:solidFill>
                  <a:schemeClr val="dk1"/>
                </a:solidFill>
              </a:rPr>
              <a:t> across</a:t>
            </a:r>
            <a:r>
              <a:rPr lang="en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 customer_id, upi_id, and device_id</a:t>
            </a:r>
            <a:r>
              <a:rPr lang="en">
                <a:solidFill>
                  <a:srgbClr val="137333"/>
                </a:solidFill>
              </a:rPr>
              <a:t>,</a:t>
            </a:r>
            <a:r>
              <a:rPr lang="en">
                <a:solidFill>
                  <a:srgbClr val="188038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etc cross-sheet boundaries.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4585358" y="1363013"/>
            <a:ext cx="4423800" cy="3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 </a:t>
            </a:r>
            <a:r>
              <a:rPr b="1" lang="en" sz="1600">
                <a:solidFill>
                  <a:schemeClr val="dk1"/>
                </a:solidFill>
              </a:rPr>
              <a:t>Cleaning Controls &amp; Constraints: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 Domain Boundary Scans:</a:t>
            </a:r>
            <a:r>
              <a:rPr lang="en">
                <a:solidFill>
                  <a:schemeClr val="dk1"/>
                </a:solidFill>
              </a:rPr>
              <a:t> Audited fields against business logic limits: age enforced lower limit (Age 18), satisfaction_score (validated strict 1–5 range), and risk_score (0.0 to 1.0). All fields show 100% compliance.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 Zero Row Deletion Policy:</a:t>
            </a:r>
            <a:r>
              <a:rPr lang="en">
                <a:solidFill>
                  <a:schemeClr val="dk1"/>
                </a:solidFill>
              </a:rPr>
              <a:t> Maintained a strict policy of deleting zero incomplete rows to preserve complete, unbiased data denominators for platform KPI tracking.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43212" y="1397892"/>
            <a:ext cx="92700" cy="324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A7C7E7"/>
              </a:highlight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4532312" y="1383133"/>
            <a:ext cx="92700" cy="324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A7C7E7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101067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Quality Log: Critical Inconsistency Summary </a:t>
            </a:r>
            <a:endParaRPr b="1"/>
          </a:p>
        </p:txBody>
      </p:sp>
      <p:sp>
        <p:nvSpPr>
          <p:cNvPr id="90" name="Google Shape;90;p18"/>
          <p:cNvSpPr txBox="1"/>
          <p:nvPr/>
        </p:nvSpPr>
        <p:spPr>
          <a:xfrm>
            <a:off x="0" y="908404"/>
            <a:ext cx="91440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Context Statement: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Operational exceptions and structural text anomalies were cataloged inside a dedicated workbook using your required audit schema. </a:t>
            </a:r>
            <a:endParaRPr>
              <a:solidFill>
                <a:schemeClr val="dk2"/>
              </a:solidFill>
            </a:endParaRPr>
          </a:p>
        </p:txBody>
      </p:sp>
      <p:graphicFrame>
        <p:nvGraphicFramePr>
          <p:cNvPr id="91" name="Google Shape;91;p18"/>
          <p:cNvGraphicFramePr/>
          <p:nvPr/>
        </p:nvGraphicFramePr>
        <p:xfrm>
          <a:off x="185154" y="1606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{3B706429-0ABB-4C2F-B0E8-CE8531A89328}</a:tableStyleId>
              </a:tblPr>
              <a:tblGrid>
                <a:gridCol w="1403725"/>
                <a:gridCol w="1443375"/>
                <a:gridCol w="1539750"/>
                <a:gridCol w="1056025"/>
                <a:gridCol w="848050"/>
                <a:gridCol w="2448825"/>
              </a:tblGrid>
              <a:tr h="67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Table Name 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Column Name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Inconsistency Type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Absolute Row Count 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Impact % 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Remediation Strategy </a:t>
                      </a:r>
                      <a:endParaRPr b="1" sz="1600"/>
                    </a:p>
                  </a:txBody>
                  <a:tcPr marT="91425" marB="91425" marR="91425" marL="91425"/>
                </a:tc>
              </a:tr>
              <a:tr h="67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upi_transaction_history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merchant_id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Contextual Nulls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69,851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69.85%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Retain as database </a:t>
                      </a:r>
                      <a:r>
                        <a:rPr lang="en">
                          <a:solidFill>
                            <a:srgbClr val="1880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NULL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; naturally isolates P2P vs P2M rows.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7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upi_transaction_history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failure_reason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Lifecycle Missing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94,129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94.13%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Retain as database </a:t>
                      </a:r>
                      <a:r>
                        <a:rPr lang="en">
                          <a:solidFill>
                            <a:srgbClr val="1880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NULL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; isolates clean rows for accurate TDR.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77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r>
                        <a:rPr lang="en"/>
                        <a:t>raud_alert_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history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resolution_date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Lifecycle Missing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248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12.40%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Retain as database </a:t>
                      </a:r>
                      <a:r>
                        <a:rPr lang="en">
                          <a:solidFill>
                            <a:srgbClr val="18803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NULL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; protects velocity tracking metrics.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20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00"/>
              <a:t>Data Unification &amp; Pipeline Transition Path</a:t>
            </a:r>
            <a:endParaRPr b="1" sz="2500"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21917" y="1067175"/>
            <a:ext cx="8453700" cy="37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Text &amp; Temporal Standardization: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Categorical Scrubbing:</a:t>
            </a:r>
            <a:r>
              <a:rPr lang="en" sz="1400">
                <a:solidFill>
                  <a:schemeClr val="dk1"/>
                </a:solidFill>
              </a:rPr>
              <a:t> Used Excel Find-and-Replace and unified text transformations </a:t>
            </a:r>
            <a:r>
              <a:rPr lang="en" sz="1400">
                <a:solidFill>
                  <a:schemeClr val="dk1"/>
                </a:solidFill>
              </a:rPr>
              <a:t>(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TRIM()</a:t>
            </a:r>
            <a:r>
              <a:rPr lang="en" sz="1400">
                <a:solidFill>
                  <a:schemeClr val="dk1"/>
                </a:solidFill>
              </a:rPr>
              <a:t>) to correct text mutations and remove hidden trailing spaces across various fields.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Temporal Alignment: </a:t>
            </a:r>
            <a:r>
              <a:rPr lang="en" sz="1400">
                <a:solidFill>
                  <a:schemeClr val="dk1"/>
                </a:solidFill>
              </a:rPr>
              <a:t>Converted mixed date configurations across all 6 sheets to the unified corporate layout standard: 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YYYY-MM-DD/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YYYY-MM-DD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 HH:MM:SS</a:t>
            </a:r>
            <a:r>
              <a:rPr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400">
                <a:solidFill>
                  <a:schemeClr val="dk1"/>
                </a:solidFill>
              </a:rPr>
              <a:t> This ensures Python time-series scripts run smoothly without parsing errors.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Relational Staging Roadmap: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Lineage Tracking:</a:t>
            </a:r>
            <a:r>
              <a:rPr lang="en" sz="1400">
                <a:solidFill>
                  <a:schemeClr val="dk1"/>
                </a:solidFill>
              </a:rPr>
              <a:t> Appended a dedicated 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validation_status</a:t>
            </a:r>
            <a:r>
              <a:rPr lang="en" sz="1400">
                <a:solidFill>
                  <a:schemeClr val="dk1"/>
                </a:solidFill>
              </a:rPr>
              <a:t> control attribute to safely route rows requiring down-stream python imputation.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Database Launch Readiness:</a:t>
            </a:r>
            <a:r>
              <a:rPr lang="en" sz="1400">
                <a:solidFill>
                  <a:schemeClr val="dk1"/>
                </a:solidFill>
              </a:rPr>
              <a:t> With referential linkages confirmed clean, the data structure is fully prepared for immediate deployment into an optimized SQL star schema.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894325" y="152700"/>
            <a:ext cx="7342200" cy="8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highlight>
                  <a:srgbClr val="F8F9FA"/>
                </a:highlight>
              </a:rPr>
              <a:t>Data Warehouse Architecture &amp; Schema Engineering</a:t>
            </a:r>
            <a:endParaRPr b="1">
              <a:highlight>
                <a:srgbClr val="F8F9FA"/>
              </a:highlight>
            </a:endParaRPr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894325" y="1330600"/>
            <a:ext cx="7342200" cy="36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Star Schema Optimization:</a:t>
            </a:r>
            <a:r>
              <a:rPr lang="en" sz="1400">
                <a:solidFill>
                  <a:schemeClr val="dk1"/>
                </a:solidFill>
              </a:rPr>
              <a:t> Modeled the database structure into an enterprise-grade Star Schema layout. The relational hub is built around 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upi_transaction_history</a:t>
            </a:r>
            <a:r>
              <a:rPr lang="en" sz="1400">
                <a:solidFill>
                  <a:schemeClr val="dk1"/>
                </a:solidFill>
              </a:rPr>
              <a:t> as the central Fact logging node.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Normalized Lookup Entities: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Branched the master transaction log across 4 critical dimension nodes 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customer_master, merchant_info, device_info</a:t>
            </a:r>
            <a:r>
              <a:rPr lang="en" sz="1400">
                <a:solidFill>
                  <a:schemeClr val="dk1"/>
                </a:solidFill>
              </a:rPr>
              <a:t>, and</a:t>
            </a:r>
            <a:r>
              <a:rPr lang="en" sz="1400">
                <a:solidFill>
                  <a:srgbClr val="137333"/>
                </a:solidFill>
              </a:rPr>
              <a:t> 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upi_account_details</a:t>
            </a:r>
            <a:r>
              <a:rPr lang="en" sz="1400">
                <a:solidFill>
                  <a:schemeClr val="dk1"/>
                </a:solidFill>
              </a:rPr>
              <a:t>) to systematically isolate user profile attributes.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Downstream Analytical Staging:</a:t>
            </a:r>
            <a:r>
              <a:rPr lang="en" sz="1400">
                <a:solidFill>
                  <a:schemeClr val="dk1"/>
                </a:solidFill>
              </a:rPr>
              <a:t> Integrated secondary dependent log networks (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fraud_alert_history</a:t>
            </a:r>
            <a:r>
              <a:rPr lang="en" sz="1400">
                <a:solidFill>
                  <a:schemeClr val="dk1"/>
                </a:solidFill>
              </a:rPr>
              <a:t> and 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customer_feedback_surveys</a:t>
            </a:r>
            <a:r>
              <a:rPr lang="en" sz="1400">
                <a:solidFill>
                  <a:schemeClr val="dk1"/>
                </a:solidFill>
              </a:rPr>
              <a:t>) using strictly constrained foreign key bridges to provide clean pipelines for Python risk calculations and Power BI dashboards.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Production Ingestion Automation:</a:t>
            </a:r>
            <a:r>
              <a:rPr lang="en" sz="1400">
                <a:solidFill>
                  <a:schemeClr val="dk1"/>
                </a:solidFill>
              </a:rPr>
              <a:t> Executed raw file streaming using custom</a:t>
            </a:r>
            <a:r>
              <a:rPr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LOAD DATA INFILE</a:t>
            </a:r>
            <a:r>
              <a:rPr lang="en" sz="1400">
                <a:solidFill>
                  <a:schemeClr val="dk1"/>
                </a:solidFill>
              </a:rPr>
              <a:t> session routines. Applied dynamic 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@dummy</a:t>
            </a:r>
            <a:r>
              <a:rPr lang="en" sz="1400">
                <a:solidFill>
                  <a:srgbClr val="137333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memory variables and runtime text-to-binary mapping scripts to handle mismatched types and dirty trailing commas seamlessly.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1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509400" y="313450"/>
            <a:ext cx="8125200" cy="6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highlight>
                  <a:srgbClr val="F8F9FA"/>
                </a:highlight>
              </a:rPr>
              <a:t>Python-to-SQL Connection &amp; Security Architecture</a:t>
            </a:r>
            <a:endParaRPr b="1" sz="2500">
              <a:highlight>
                <a:srgbClr val="F8F9FA"/>
              </a:highlight>
            </a:endParaRPr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911850" y="1232025"/>
            <a:ext cx="7320300" cy="36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b="1" lang="en" sz="1600">
                <a:solidFill>
                  <a:schemeClr val="dk1"/>
                </a:solidFill>
              </a:rPr>
              <a:t>Library Staging &amp; Environment Setup:</a:t>
            </a:r>
            <a:r>
              <a:rPr b="1" lang="en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Successfully initialized the programmatic interface by importing core relational mapping, drivers, and analysis suites: 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pandas</a:t>
            </a:r>
            <a:r>
              <a:rPr lang="en" sz="1400">
                <a:solidFill>
                  <a:schemeClr val="dk1"/>
                </a:solidFill>
              </a:rPr>
              <a:t>, 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sqlalchemy </a:t>
            </a:r>
            <a:r>
              <a:rPr lang="en" sz="1400">
                <a:solidFill>
                  <a:schemeClr val="dk1"/>
                </a:solidFill>
              </a:rPr>
              <a:t>(engine layer), and 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pymysql </a:t>
            </a:r>
            <a:r>
              <a:rPr lang="en" sz="1400">
                <a:solidFill>
                  <a:schemeClr val="dk1"/>
                </a:solidFill>
              </a:rPr>
              <a:t>(MySQL database driver interface).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600">
                <a:solidFill>
                  <a:schemeClr val="dk1"/>
                </a:solidFill>
              </a:rPr>
              <a:t>Secure Authentication Architecture: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Configured a secure database connection string using 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mysql+pymysql://</a:t>
            </a:r>
            <a:r>
              <a:rPr lang="en" sz="1400">
                <a:solidFill>
                  <a:schemeClr val="dk1"/>
                </a:solidFill>
              </a:rPr>
              <a:t>. Implemented an enterprise-grade security layer using Python's 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getpass.getpass() </a:t>
            </a:r>
            <a:r>
              <a:rPr lang="en" sz="1400">
                <a:solidFill>
                  <a:schemeClr val="dk1"/>
                </a:solidFill>
              </a:rPr>
              <a:t>library to mask the MySQL root password at runtime, preventing plain-text credential leaks in the notebook code logs.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600">
                <a:solidFill>
                  <a:schemeClr val="dk1"/>
                </a:solidFill>
              </a:rPr>
              <a:t>Vectorized Ingestion Engine:</a:t>
            </a:r>
            <a:r>
              <a:rPr b="1" lang="en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I</a:t>
            </a:r>
            <a:r>
              <a:rPr lang="en" sz="1400">
                <a:solidFill>
                  <a:schemeClr val="dk1"/>
                </a:solidFill>
              </a:rPr>
              <a:t>nitialized batch data extraction from the relational schema (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upi_analytics_db</a:t>
            </a:r>
            <a:r>
              <a:rPr lang="en" sz="1400">
                <a:solidFill>
                  <a:schemeClr val="dk1"/>
                </a:solidFill>
              </a:rPr>
              <a:t>). Used high-performance 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pandas.read_sql_query()</a:t>
            </a:r>
            <a:r>
              <a:rPr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</a:t>
            </a:r>
            <a:r>
              <a:rPr lang="en" sz="1400">
                <a:solidFill>
                  <a:schemeClr val="dk1"/>
                </a:solidFill>
              </a:rPr>
              <a:t>unctions to load all 7 base tables concurrently over the SQLAlchemy database engine directly into decoupled memory data frames.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920500" y="401375"/>
            <a:ext cx="7303200" cy="6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Frame Transformation &amp; Volume Auditing </a:t>
            </a:r>
            <a:endParaRPr b="1"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920500" y="1348800"/>
            <a:ext cx="7303200" cy="36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Post-Load Memory Space Audit:</a:t>
            </a:r>
            <a:r>
              <a:rPr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Validated the schema, data types, and record boundaries inside the data frames. Confirmed that the extracted shapes match the database source counts exactly, ensuring a 100% data transfer with zero record leakage.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Core Fact Hub Layer Volume:</a:t>
            </a:r>
            <a:r>
              <a:rPr lang="en" sz="1400">
                <a:solidFill>
                  <a:schemeClr val="dk1"/>
                </a:solidFill>
              </a:rPr>
              <a:t> Verified 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upi_transaction_history </a:t>
            </a:r>
            <a:r>
              <a:rPr lang="en" sz="1400">
                <a:solidFill>
                  <a:schemeClr val="dk1"/>
                </a:solidFill>
              </a:rPr>
              <a:t>at exactly </a:t>
            </a:r>
            <a:r>
              <a:rPr b="1" lang="en" sz="1400">
                <a:solidFill>
                  <a:schemeClr val="dk1"/>
                </a:solidFill>
              </a:rPr>
              <a:t>100,000 records</a:t>
            </a:r>
            <a:r>
              <a:rPr lang="en" sz="1400">
                <a:solidFill>
                  <a:schemeClr val="dk1"/>
                </a:solidFill>
              </a:rPr>
              <a:t> containing 15 discrete structural attributes.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Staging Dimensions Volume:</a:t>
            </a:r>
            <a:r>
              <a:rPr lang="en" sz="1400">
                <a:solidFill>
                  <a:schemeClr val="dk1"/>
                </a:solidFill>
              </a:rPr>
              <a:t> Reconciled 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device_info </a:t>
            </a:r>
            <a:r>
              <a:rPr lang="en" sz="1400">
                <a:solidFill>
                  <a:schemeClr val="dk1"/>
                </a:solidFill>
              </a:rPr>
              <a:t>and 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upi_account_details </a:t>
            </a:r>
            <a:r>
              <a:rPr lang="en" sz="1400">
                <a:solidFill>
                  <a:schemeClr val="dk1"/>
                </a:solidFill>
              </a:rPr>
              <a:t>at exactly </a:t>
            </a:r>
            <a:r>
              <a:rPr b="1" lang="en" sz="1400">
                <a:solidFill>
                  <a:schemeClr val="dk1"/>
                </a:solidFill>
              </a:rPr>
              <a:t>12,000 hardware/account records</a:t>
            </a:r>
            <a:r>
              <a:rPr lang="en" sz="1400">
                <a:solidFill>
                  <a:schemeClr val="dk1"/>
                </a:solidFill>
              </a:rPr>
              <a:t> each.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Dimension Masters &amp; Trackers Volume: </a:t>
            </a:r>
            <a:r>
              <a:rPr lang="en" sz="1400">
                <a:solidFill>
                  <a:schemeClr val="dk1"/>
                </a:solidFill>
              </a:rPr>
              <a:t>Mapped 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customer_master </a:t>
            </a:r>
            <a:r>
              <a:rPr lang="en" sz="1400">
                <a:solidFill>
                  <a:schemeClr val="dk1"/>
                </a:solidFill>
              </a:rPr>
              <a:t>(</a:t>
            </a:r>
            <a:r>
              <a:rPr b="1" lang="en" sz="1400">
                <a:solidFill>
                  <a:schemeClr val="dk1"/>
                </a:solidFill>
              </a:rPr>
              <a:t>10,000 records</a:t>
            </a:r>
            <a:r>
              <a:rPr lang="en" sz="1400">
                <a:solidFill>
                  <a:schemeClr val="dk1"/>
                </a:solidFill>
              </a:rPr>
              <a:t>), 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customer_feedback_surveys </a:t>
            </a:r>
            <a:r>
              <a:rPr lang="en" sz="1400">
                <a:solidFill>
                  <a:schemeClr val="dk1"/>
                </a:solidFill>
              </a:rPr>
              <a:t>(</a:t>
            </a:r>
            <a:r>
              <a:rPr b="1" lang="en" sz="1400">
                <a:solidFill>
                  <a:schemeClr val="dk1"/>
                </a:solidFill>
              </a:rPr>
              <a:t>4,000 records</a:t>
            </a:r>
            <a:r>
              <a:rPr lang="en" sz="1400">
                <a:solidFill>
                  <a:schemeClr val="dk1"/>
                </a:solidFill>
              </a:rPr>
              <a:t>), 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fraud_alert_history </a:t>
            </a:r>
            <a:r>
              <a:rPr lang="en" sz="1400">
                <a:solidFill>
                  <a:schemeClr val="dk1"/>
                </a:solidFill>
              </a:rPr>
              <a:t>(</a:t>
            </a:r>
            <a:r>
              <a:rPr b="1" lang="en" sz="1400">
                <a:solidFill>
                  <a:schemeClr val="dk1"/>
                </a:solidFill>
              </a:rPr>
              <a:t>2,000 records</a:t>
            </a:r>
            <a:r>
              <a:rPr lang="en" sz="1400">
                <a:solidFill>
                  <a:schemeClr val="dk1"/>
                </a:solidFill>
              </a:rPr>
              <a:t>), and 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merchant_info </a:t>
            </a:r>
            <a:r>
              <a:rPr lang="en" sz="1400">
                <a:solidFill>
                  <a:schemeClr val="dk1"/>
                </a:solidFill>
              </a:rPr>
              <a:t>(</a:t>
            </a:r>
            <a:r>
              <a:rPr b="1" lang="en" sz="1400">
                <a:solidFill>
                  <a:schemeClr val="dk1"/>
                </a:solidFill>
              </a:rPr>
              <a:t>500 records</a:t>
            </a:r>
            <a:r>
              <a:rPr lang="en" sz="1400">
                <a:solidFill>
                  <a:schemeClr val="dk1"/>
                </a:solidFill>
              </a:rPr>
              <a:t>)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104750"/>
            <a:ext cx="8832300" cy="6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Advanced Python Data Cleansing &amp; Feature Engineering </a:t>
            </a:r>
            <a:endParaRPr b="1"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972884"/>
            <a:ext cx="8520600" cy="39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Algorithmic Imputation &amp; Formatting: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Standardized object columns by stripping whitespace and structural string mutations. Cast raw object parameters into proper datetime formats (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pd.to_datetime</a:t>
            </a:r>
            <a:r>
              <a:rPr lang="en" sz="1400">
                <a:solidFill>
                  <a:schemeClr val="dk1"/>
                </a:solidFill>
              </a:rPr>
              <a:t>). Handled system gaps by explicitly transforming contextual missing entries into descriptive operational variables (</a:t>
            </a:r>
            <a:r>
              <a:rPr lang="en" sz="1400">
                <a:solidFill>
                  <a:srgbClr val="188038"/>
                </a:solidFill>
              </a:rPr>
              <a:t>"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P2P_TRANSACTION</a:t>
            </a:r>
            <a:r>
              <a:rPr lang="en" sz="1400">
                <a:solidFill>
                  <a:srgbClr val="188038"/>
                </a:solidFill>
              </a:rPr>
              <a:t>"</a:t>
            </a:r>
            <a:r>
              <a:rPr lang="en" sz="1400">
                <a:solidFill>
                  <a:schemeClr val="dk1"/>
                </a:solidFill>
              </a:rPr>
              <a:t> and </a:t>
            </a:r>
            <a:r>
              <a:rPr lang="en" sz="1400">
                <a:solidFill>
                  <a:srgbClr val="188038"/>
                </a:solidFill>
              </a:rPr>
              <a:t>"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SUCCESSFUL_TRANSACTION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400">
                <a:solidFill>
                  <a:schemeClr val="dk1"/>
                </a:solidFill>
              </a:rPr>
              <a:t>), protecting downstream aggregations from distortion.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Statistical Outlier Standardization:</a:t>
            </a:r>
            <a:r>
              <a:rPr lang="en" sz="1400">
                <a:solidFill>
                  <a:schemeClr val="dk1"/>
                </a:solidFill>
              </a:rPr>
              <a:t> Handled highly skewed financial transactions using Z-Score Standardization into standard deviation units based on the total operational footprint.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Behavioral Feature Engineering:</a:t>
            </a:r>
            <a:r>
              <a:rPr lang="en" sz="1400">
                <a:solidFill>
                  <a:schemeClr val="dk1"/>
                </a:solidFill>
              </a:rPr>
              <a:t> Programmed four continuous, high-fidelity risk indicators at the entity level to map platform usage patterns:</a:t>
            </a:r>
            <a:endParaRPr sz="1400">
              <a:solidFill>
                <a:schemeClr val="dk1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i="1" lang="en">
                <a:solidFill>
                  <a:schemeClr val="dk1"/>
                </a:solidFill>
              </a:rPr>
              <a:t>Transaction Value per Customer</a:t>
            </a:r>
            <a:r>
              <a:rPr lang="en">
                <a:solidFill>
                  <a:schemeClr val="dk1"/>
                </a:solidFill>
              </a:rPr>
              <a:t> (aggregated spending habits up to ₹203.77)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>
                <a:solidFill>
                  <a:schemeClr val="dk1"/>
                </a:solidFill>
              </a:rPr>
              <a:t>Merchant Fraud Ratio</a:t>
            </a:r>
            <a:r>
              <a:rPr lang="en">
                <a:solidFill>
                  <a:schemeClr val="dk1"/>
                </a:solidFill>
              </a:rPr>
              <a:t> (isolated high-risk commercial vectors like </a:t>
            </a:r>
            <a:r>
              <a:rPr lang="en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merch1201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chemeClr val="dk1"/>
                </a:solidFill>
              </a:rPr>
              <a:t>at 10.64%)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i="1" lang="en">
                <a:solidFill>
                  <a:schemeClr val="dk1"/>
                </a:solidFill>
              </a:rPr>
              <a:t>Device Fraud Ratio</a:t>
            </a:r>
            <a:r>
              <a:rPr lang="en">
                <a:solidFill>
                  <a:schemeClr val="dk1"/>
                </a:solidFill>
              </a:rPr>
              <a:t> (identified hardware endpoints carrying a 100% compromise match)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i="1" lang="en">
                <a:solidFill>
                  <a:schemeClr val="dk1"/>
                </a:solidFill>
              </a:rPr>
              <a:t>Transaction Failure Rate</a:t>
            </a:r>
            <a:r>
              <a:rPr lang="en">
                <a:solidFill>
                  <a:schemeClr val="dk1"/>
                </a:solidFill>
              </a:rPr>
              <a:t> (aggregated multi-dimensional latency drops across core interfaces)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3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899650" y="131950"/>
            <a:ext cx="733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Platform Health Baselines &amp; Time-Series EDA</a:t>
            </a:r>
            <a:endParaRPr b="1"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899500" y="1017725"/>
            <a:ext cx="7335300" cy="38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Ecosystem Performance Profiling:</a:t>
            </a:r>
            <a:r>
              <a:rPr lang="en" sz="1400">
                <a:solidFill>
                  <a:schemeClr val="dk1"/>
                </a:solidFill>
              </a:rPr>
              <a:t> Isolated a platform-wide technical failure baseline of </a:t>
            </a:r>
            <a:r>
              <a:rPr b="1" lang="en" sz="1400">
                <a:solidFill>
                  <a:schemeClr val="dk1"/>
                </a:solidFill>
              </a:rPr>
              <a:t>5.87%</a:t>
            </a:r>
            <a:r>
              <a:rPr lang="en" sz="1400">
                <a:solidFill>
                  <a:schemeClr val="dk1"/>
                </a:solidFill>
              </a:rPr>
              <a:t>. Broke down system health metrics using grouped statistics across interface channels (App: 6.00%, Intent: 5.90%, QR Code: 5.71%) and core banking endpoints (Kotak: 6.00%, Axis: 5.99%, down to SBI at 5.69%) to establish operational performance benchmarks.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Macro Trend &amp; Timeline Visualization: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Deployed dual-axis monthly time-series line charts tracking platform performance from 2021 through 2025. Combining total transaction volumes and confirmed fraud cases onto a single timeline effectively smooths out day-to-day noise to highlight long-term patterns and business growth trends.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Risk Segment Isolation:</a:t>
            </a:r>
            <a:r>
              <a:rPr lang="en" sz="1400">
                <a:solidFill>
                  <a:schemeClr val="dk1"/>
                </a:solidFill>
              </a:rPr>
              <a:t> Cross-referenced behavioral metrics using Seaborn heatmaps and boxplots to isolate high-risk pockets, revealing that fraudulent transaction concentrations map to specific merchant categories and regional user corridors.</a:t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96100" y="196316"/>
            <a:ext cx="872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Inferential Statistical Models &amp; Hypothesis Testing </a:t>
            </a:r>
            <a:endParaRPr b="1"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449350" y="1135478"/>
            <a:ext cx="8232300" cy="3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Value Volatility Test (Welch’s T-Test):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Evaluated whether a significant difference in value means exists between Legitimate (98,000) and Fraudulent (2,000) transactions using </a:t>
            </a:r>
            <a:r>
              <a:rPr lang="en" sz="1400">
                <a:solidFill>
                  <a:srgbClr val="137333"/>
                </a:solidFill>
                <a:latin typeface="Courier New"/>
                <a:ea typeface="Courier New"/>
                <a:cs typeface="Courier New"/>
                <a:sym typeface="Courier New"/>
              </a:rPr>
              <a:t>scipy.stats.ttest_ind(equal_var=False)</a:t>
            </a:r>
            <a:r>
              <a:rPr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>
                <a:solidFill>
                  <a:schemeClr val="dk1"/>
                </a:solidFill>
              </a:rPr>
              <a:t>Metrics In: t = -0.0841, p = 0.9330. Fail to reject H0. Financial averages are statistically identical, proving fraud rings blend values to evade detection thresholds.</a:t>
            </a:r>
            <a:endParaRPr i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Device Integrity Test (Chi-Square </a:t>
            </a:r>
            <a:r>
              <a:rPr lang="en" sz="1600">
                <a:solidFill>
                  <a:schemeClr val="dk1"/>
                </a:solidFill>
              </a:rPr>
              <a:t>𝐱²</a:t>
            </a:r>
            <a:r>
              <a:rPr b="1" lang="en" sz="1600">
                <a:solidFill>
                  <a:schemeClr val="dk1"/>
                </a:solidFill>
              </a:rPr>
              <a:t>):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Analyzed the structural dependency between compromised device operating states (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is_rooted</a:t>
            </a:r>
            <a:r>
              <a:rPr lang="en" sz="1400">
                <a:solidFill>
                  <a:schemeClr val="dk1"/>
                </a:solidFill>
              </a:rPr>
              <a:t>) and platform security flags (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fraud_flag</a:t>
            </a:r>
            <a:r>
              <a:rPr lang="en" sz="1400">
                <a:solidFill>
                  <a:schemeClr val="dk1"/>
                </a:solidFill>
              </a:rPr>
              <a:t>).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i="1" lang="en">
                <a:solidFill>
                  <a:schemeClr val="dk1"/>
                </a:solidFill>
              </a:rPr>
              <a:t>Metrics In: 𝐱² = 4729.1271, p = 0.0000 (DoF = 1). Reject H0. Proves an extreme, statistically significant dependency between rooted devices and fraud waves.</a:t>
            </a:r>
            <a:endParaRPr i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Infrastructure Latency Test (Chi-Square </a:t>
            </a:r>
            <a:r>
              <a:rPr lang="en" sz="1600">
                <a:solidFill>
                  <a:schemeClr val="dk1"/>
                </a:solidFill>
              </a:rPr>
              <a:t>𝐱²</a:t>
            </a:r>
            <a:r>
              <a:rPr b="1" lang="en" sz="1600">
                <a:solidFill>
                  <a:schemeClr val="dk1"/>
                </a:solidFill>
              </a:rPr>
              <a:t>):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Evaluated if transaction drop distributions (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failed</a:t>
            </a:r>
            <a:r>
              <a:rPr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pending</a:t>
            </a:r>
            <a:r>
              <a:rPr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success</a:t>
            </a:r>
            <a:r>
              <a:rPr lang="en" sz="1400">
                <a:solidFill>
                  <a:schemeClr val="dk1"/>
                </a:solidFill>
              </a:rPr>
              <a:t>) vary significantly across user geographic locations (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region</a:t>
            </a:r>
            <a:r>
              <a:rPr lang="en" sz="1400">
                <a:solidFill>
                  <a:schemeClr val="dk1"/>
                </a:solidFill>
              </a:rPr>
              <a:t>).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i="1" lang="en">
                <a:solidFill>
                  <a:schemeClr val="dk1"/>
                </a:solidFill>
              </a:rPr>
              <a:t>Metrics In: </a:t>
            </a:r>
            <a:r>
              <a:rPr i="1" lang="en">
                <a:solidFill>
                  <a:schemeClr val="dk1"/>
                </a:solidFill>
              </a:rPr>
              <a:t>𝐱²</a:t>
            </a:r>
            <a:r>
              <a:rPr i="1" lang="en">
                <a:solidFill>
                  <a:schemeClr val="dk1"/>
                </a:solidFill>
              </a:rPr>
              <a:t> = 7.8202, p = 0.4512 (DoF = 8). Fail to reject </a:t>
            </a:r>
            <a:r>
              <a:rPr i="1" lang="en">
                <a:solidFill>
                  <a:schemeClr val="dk1"/>
                </a:solidFill>
              </a:rPr>
              <a:t>H</a:t>
            </a:r>
            <a:r>
              <a:rPr i="1" lang="en">
                <a:solidFill>
                  <a:schemeClr val="dk1"/>
                </a:solidFill>
              </a:rPr>
              <a:t>0. Confirms timeouts occur uniformly across regions, disproving localized degradation.</a:t>
            </a:r>
            <a:endParaRPr b="1"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11700" y="11783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Statistical Visualizations, Assumptions, &amp; Limitations </a:t>
            </a:r>
            <a:endParaRPr b="1"/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311700" y="1152475"/>
            <a:ext cx="8520600" cy="38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600">
                <a:solidFill>
                  <a:schemeClr val="dk1"/>
                </a:solidFill>
              </a:rPr>
              <a:t>Graphical Output Analytics:</a:t>
            </a:r>
            <a:r>
              <a:rPr lang="en" sz="1400">
                <a:solidFill>
                  <a:schemeClr val="dk1"/>
                </a:solidFill>
              </a:rPr>
              <a:t> Generated overlapping density distribution histograms for transaction values, visually mapping the near-zero t-statistic. Rendered Seaborn cross-tabulation heatmaps to cleanly display actual vs. expected frequency splits for the device security alerts.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600">
                <a:solidFill>
                  <a:schemeClr val="dk1"/>
                </a:solidFill>
              </a:rPr>
              <a:t>Central Limit Theorem (CLT) Compliance: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Acknowledged that raw transaction amounts are heavily right-skewed. Proved parametric validity via CLT: our massive sample sizes (N1 = 98k, N2 = 2k) ensure the sampling distribution of means approaches normality, keeping the T-test robust.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600">
                <a:solidFill>
                  <a:schemeClr val="dk1"/>
                </a:solidFill>
              </a:rPr>
              <a:t>Chi-Square Cell Sufficiency:</a:t>
            </a:r>
            <a:r>
              <a:rPr lang="en" sz="1400">
                <a:solidFill>
                  <a:schemeClr val="dk1"/>
                </a:solidFill>
              </a:rPr>
              <a:t> Verified the structural constraints for both contingency tests. Confirmed that every single expected cell frequency value vastly exceeded the mandatory statistical cutoff threshold (≥5), eliminating mathematical distortion.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600">
                <a:solidFill>
                  <a:schemeClr val="dk1"/>
                </a:solidFill>
              </a:rPr>
              <a:t>Data Scope Limitations:</a:t>
            </a:r>
            <a:r>
              <a:rPr lang="en" sz="1400">
                <a:solidFill>
                  <a:schemeClr val="dk1"/>
                </a:solidFill>
              </a:rPr>
              <a:t> Documented that these statistical models represent a historical slice of performance metrics from 2021 through 2025 and treat the customer risk index as a static snapshot rather than a dynamic variable.</a:t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920850" y="139787"/>
            <a:ext cx="7295700" cy="9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27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Power BI Semantic Modeling &amp; Interface Engineering</a:t>
            </a:r>
            <a:endParaRPr b="1" sz="2500"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920850" y="1213525"/>
            <a:ext cx="7295700" cy="37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marR="381000" rtl="0" algn="l">
              <a:spcBef>
                <a:spcPts val="27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Relational Schema Mapping:</a:t>
            </a:r>
            <a:r>
              <a:rPr lang="en" sz="1400">
                <a:solidFill>
                  <a:schemeClr val="dk1"/>
                </a:solidFill>
              </a:rPr>
              <a:t> Connected Power BI Desktop to the production SQL database instance, implementing an enterprise-grade Star Schema. Mapped dimension nodes 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customer_master</a:t>
            </a:r>
            <a:r>
              <a:rPr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device_info</a:t>
            </a:r>
            <a:r>
              <a:rPr lang="en" sz="1400">
                <a:solidFill>
                  <a:schemeClr val="dk1"/>
                </a:solidFill>
              </a:rPr>
              <a:t>, and 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merchant_info</a:t>
            </a:r>
            <a:r>
              <a:rPr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chemeClr val="dk1"/>
                </a:solidFill>
              </a:rPr>
              <a:t>to the central 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upi_transaction_history</a:t>
            </a:r>
            <a:r>
              <a:rPr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chemeClr val="dk1"/>
                </a:solidFill>
              </a:rPr>
              <a:t>transactional hub via 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* -&gt; 1</a:t>
            </a:r>
            <a:r>
              <a:rPr lang="en" sz="1400">
                <a:solidFill>
                  <a:schemeClr val="dk1"/>
                </a:solidFill>
              </a:rPr>
              <a:t> single-direction cross-filtering relationships.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Bidirectional Cross-Filter Exception:</a:t>
            </a:r>
            <a:r>
              <a:rPr lang="en" sz="1400">
                <a:solidFill>
                  <a:schemeClr val="dk1"/>
                </a:solidFill>
              </a:rPr>
              <a:t> Enforced a strict 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1 -&gt; 1</a:t>
            </a:r>
            <a:r>
              <a:rPr lang="en" sz="1400">
                <a:solidFill>
                  <a:schemeClr val="dk1"/>
                </a:solidFill>
              </a:rPr>
              <a:t> bidirectional cross-filter link between 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upi_transaction_history</a:t>
            </a:r>
            <a:r>
              <a:rPr lang="en" sz="1400">
                <a:solidFill>
                  <a:schemeClr val="dk1"/>
                </a:solidFill>
              </a:rPr>
              <a:t> and 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fraud_alert_history</a:t>
            </a:r>
            <a:r>
              <a:rPr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400">
                <a:solidFill>
                  <a:schemeClr val="dk1"/>
                </a:solidFill>
              </a:rPr>
              <a:t> This structural linkage ensures security threat alerts immediately propagate across consumer activity logs without breaking table granularity boundaries.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Advanced Interface Component Engineering:</a:t>
            </a:r>
            <a:r>
              <a:rPr lang="en" sz="1400">
                <a:solidFill>
                  <a:schemeClr val="dk1"/>
                </a:solidFill>
              </a:rPr>
              <a:t> Replaced static title text elements with native Blank Button assets configured with dynamic state expressions. Built explicit 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On Hover</a:t>
            </a:r>
            <a:r>
              <a:rPr lang="en" sz="1400">
                <a:solidFill>
                  <a:schemeClr val="dk1"/>
                </a:solidFill>
              </a:rPr>
              <a:t> and 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On Press</a:t>
            </a:r>
            <a:r>
              <a:rPr lang="en" sz="1400">
                <a:solidFill>
                  <a:schemeClr val="dk1"/>
                </a:solidFill>
              </a:rPr>
              <a:t> layout properties to eliminate visual shifting and locked the background canvas layers with </a:t>
            </a:r>
            <a:r>
              <a:rPr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Maintain Layer Order</a:t>
            </a:r>
            <a:r>
              <a:rPr lang="en" sz="1400">
                <a:solidFill>
                  <a:schemeClr val="dk1"/>
                </a:solidFill>
              </a:rPr>
              <a:t> rules to ensure enterprise-grade stability.</a:t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311700" y="48197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27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Multi-Tier Interactive Reporting &amp; UX Navigation Hub</a:t>
            </a:r>
            <a:endParaRPr b="1" sz="2500"/>
          </a:p>
        </p:txBody>
      </p:sp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3407175" y="833250"/>
            <a:ext cx="5664000" cy="41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381000" rtl="0" algn="l">
              <a:spcBef>
                <a:spcPts val="27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Central Navigation Gateway (Homepage):</a:t>
            </a:r>
            <a:r>
              <a:rPr lang="en" sz="1400">
                <a:solidFill>
                  <a:schemeClr val="dk1"/>
                </a:solidFill>
              </a:rPr>
              <a:t> Built an entry landing page consolidating data scope boundaries (100K transaction nodes, temporal horizon covering Oct 2020 – Aug 2025) and deployed two explicit role-based user paths using zero-code page navigation parameters.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marR="381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Operational Risk Hub (Page 1):</a:t>
            </a:r>
            <a:r>
              <a:rPr lang="en" sz="1400">
                <a:solidFill>
                  <a:schemeClr val="dk1"/>
                </a:solidFill>
              </a:rPr>
              <a:t> Surfaced critical platform performance tracking baselines for executive owners, displaying an ecosystem-wide </a:t>
            </a:r>
            <a:r>
              <a:rPr b="1" lang="en" sz="1400">
                <a:solidFill>
                  <a:schemeClr val="dk1"/>
                </a:solidFill>
              </a:rPr>
              <a:t>5.87% Transaction Failure Rate</a:t>
            </a:r>
            <a:r>
              <a:rPr lang="en" sz="1400">
                <a:solidFill>
                  <a:schemeClr val="dk1"/>
                </a:solidFill>
              </a:rPr>
              <a:t>, a </a:t>
            </a:r>
            <a:r>
              <a:rPr b="1" lang="en" sz="1400">
                <a:solidFill>
                  <a:schemeClr val="dk1"/>
                </a:solidFill>
              </a:rPr>
              <a:t>2.00% Global Fraud Rate</a:t>
            </a:r>
            <a:r>
              <a:rPr lang="en" sz="1400">
                <a:solidFill>
                  <a:schemeClr val="dk1"/>
                </a:solidFill>
              </a:rPr>
              <a:t>, and a </a:t>
            </a:r>
            <a:r>
              <a:rPr b="1" lang="en" sz="1400">
                <a:solidFill>
                  <a:schemeClr val="dk1"/>
                </a:solidFill>
              </a:rPr>
              <a:t>3.31 Customer Satisfaction (CSAT)</a:t>
            </a:r>
            <a:r>
              <a:rPr lang="en" sz="1400">
                <a:solidFill>
                  <a:schemeClr val="dk1"/>
                </a:solidFill>
              </a:rPr>
              <a:t> benchmark index.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Threat Operations Center (Page 2):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Engineered a multi-dimensional diagnostic matrix using grouped statistics across nested layers (</a:t>
            </a:r>
            <a:r>
              <a:rPr b="1" lang="en" sz="1400">
                <a:solidFill>
                  <a:schemeClr val="dk1"/>
                </a:solidFill>
              </a:rPr>
              <a:t>Region &gt; Device Type &gt; Rooted Status</a:t>
            </a:r>
            <a:r>
              <a:rPr lang="en" sz="1400">
                <a:solidFill>
                  <a:schemeClr val="dk1"/>
                </a:solidFill>
              </a:rPr>
              <a:t>). Integrated cross-filtering actions so that selecting an operational anomaly instantly updates adjacent time-series trend lines.</a:t>
            </a:r>
            <a:endParaRPr sz="1400"/>
          </a:p>
        </p:txBody>
      </p:sp>
      <p:pic>
        <p:nvPicPr>
          <p:cNvPr id="152" name="Google Shape;152;p28" title="Screenshot 2026-09-17 1219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75" y="833250"/>
            <a:ext cx="3277300" cy="417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894325" y="52400"/>
            <a:ext cx="7355400" cy="8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Platform Diagnostic Audit &amp; Financial Exposure (The Problem) </a:t>
            </a:r>
            <a:endParaRPr b="1"/>
          </a:p>
        </p:txBody>
      </p:sp>
      <p:sp>
        <p:nvSpPr>
          <p:cNvPr id="158" name="Google Shape;158;p29"/>
          <p:cNvSpPr txBox="1"/>
          <p:nvPr>
            <p:ph idx="1" type="body"/>
          </p:nvPr>
        </p:nvSpPr>
        <p:spPr>
          <a:xfrm>
            <a:off x="894300" y="1152475"/>
            <a:ext cx="7355400" cy="38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Executive Snapshot:</a:t>
            </a:r>
            <a:r>
              <a:rPr lang="en" sz="1400">
                <a:solidFill>
                  <a:schemeClr val="dk1"/>
                </a:solidFill>
              </a:rPr>
              <a:t>The platform maintains an uncompetitive </a:t>
            </a:r>
            <a:r>
              <a:rPr b="1" lang="en" sz="1400">
                <a:solidFill>
                  <a:schemeClr val="dk1"/>
                </a:solidFill>
              </a:rPr>
              <a:t>5.87% Transaction Failure Rate (TFR)</a:t>
            </a:r>
            <a:r>
              <a:rPr lang="en" sz="1400">
                <a:solidFill>
                  <a:schemeClr val="dk1"/>
                </a:solidFill>
              </a:rPr>
              <a:t>, a compressed </a:t>
            </a:r>
            <a:r>
              <a:rPr b="1" lang="en" sz="1400">
                <a:solidFill>
                  <a:schemeClr val="dk1"/>
                </a:solidFill>
              </a:rPr>
              <a:t>3.64 Customer Satisfaction (CSAT)</a:t>
            </a:r>
            <a:r>
              <a:rPr lang="en" sz="1400">
                <a:solidFill>
                  <a:schemeClr val="dk1"/>
                </a:solidFill>
              </a:rPr>
              <a:t> baseline, and a raw dynamic </a:t>
            </a:r>
            <a:r>
              <a:rPr b="1" lang="en" sz="1400">
                <a:solidFill>
                  <a:schemeClr val="dk1"/>
                </a:solidFill>
              </a:rPr>
              <a:t>Average Transaction Value (ATV) of $42.42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Core Architectural Skew: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Peer-to-Peer (P2P) transfers account for a massive </a:t>
            </a:r>
            <a:r>
              <a:rPr b="1" lang="en" sz="1400">
                <a:solidFill>
                  <a:schemeClr val="dk1"/>
                </a:solidFill>
              </a:rPr>
              <a:t>69.85% of volume</a:t>
            </a:r>
            <a:r>
              <a:rPr lang="en" sz="1400">
                <a:solidFill>
                  <a:schemeClr val="dk1"/>
                </a:solidFill>
              </a:rPr>
              <a:t>. Conversely, high-margin </a:t>
            </a:r>
            <a:r>
              <a:rPr b="1" lang="en" sz="1400">
                <a:solidFill>
                  <a:schemeClr val="dk1"/>
                </a:solidFill>
              </a:rPr>
              <a:t>utility workflows (</a:t>
            </a:r>
            <a:r>
              <a:rPr b="1" lang="en" sz="14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bill_pay</a:t>
            </a:r>
            <a:r>
              <a:rPr b="1" lang="en" sz="1400">
                <a:solidFill>
                  <a:schemeClr val="dk1"/>
                </a:solidFill>
              </a:rPr>
              <a:t>) sit at a critical 5.05% floor</a:t>
            </a:r>
            <a:r>
              <a:rPr lang="en" sz="1400">
                <a:solidFill>
                  <a:schemeClr val="dk1"/>
                </a:solidFill>
              </a:rPr>
              <a:t>, limiting platform profitability.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Hardware Vulnerability Threat:</a:t>
            </a:r>
            <a:r>
              <a:rPr lang="en" sz="1400">
                <a:solidFill>
                  <a:schemeClr val="dk1"/>
                </a:solidFill>
              </a:rPr>
              <a:t> Inferential Chi-Square mapping identifies rooted/jailbroken devices as our primary security threat vector, carrying an empirical </a:t>
            </a:r>
            <a:r>
              <a:rPr b="1" lang="en" sz="1400">
                <a:solidFill>
                  <a:schemeClr val="dk1"/>
                </a:solidFill>
              </a:rPr>
              <a:t>14.90x Fraud Risk Multiplier</a:t>
            </a:r>
            <a:r>
              <a:rPr lang="en" sz="1400">
                <a:solidFill>
                  <a:schemeClr val="dk1"/>
                </a:solidFill>
              </a:rPr>
              <a:t> over secure endpoints.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The Churn Threshold:</a:t>
            </a:r>
            <a:r>
              <a:rPr lang="en" sz="1400">
                <a:solidFill>
                  <a:schemeClr val="dk1"/>
                </a:solidFill>
              </a:rPr>
              <a:t> Multi-table customer behavior tracking isolates a strict operational tolerance ceiling: customer sentiment drops sharply from </a:t>
            </a:r>
            <a:r>
              <a:rPr b="1" lang="en" sz="1400">
                <a:solidFill>
                  <a:schemeClr val="dk1"/>
                </a:solidFill>
              </a:rPr>
              <a:t>3.64 down to a critical 3.44</a:t>
            </a:r>
            <a:r>
              <a:rPr lang="en" sz="1400">
                <a:solidFill>
                  <a:schemeClr val="dk1"/>
                </a:solidFill>
              </a:rPr>
              <a:t> the exact moment an account experiences </a:t>
            </a:r>
            <a:r>
              <a:rPr b="1" lang="en" sz="1400">
                <a:solidFill>
                  <a:schemeClr val="dk1"/>
                </a:solidFill>
              </a:rPr>
              <a:t>3+ chronic failures</a:t>
            </a:r>
            <a:r>
              <a:rPr lang="en" sz="1400">
                <a:solidFill>
                  <a:schemeClr val="dk1"/>
                </a:solidFill>
              </a:rPr>
              <a:t> within a 48-hour window.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920500" y="78584"/>
            <a:ext cx="7303200" cy="9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Strategic Execution Layer &amp; ROI Projections (The Solution) </a:t>
            </a:r>
            <a:endParaRPr b="1"/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311700" y="1126299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F</a:t>
            </a:r>
            <a:r>
              <a:rPr b="1" lang="en" sz="1600">
                <a:solidFill>
                  <a:schemeClr val="dk1"/>
                </a:solidFill>
              </a:rPr>
              <a:t>ramework 1: </a:t>
            </a:r>
            <a:r>
              <a:rPr b="1" lang="en" sz="1600">
                <a:solidFill>
                  <a:schemeClr val="dk1"/>
                </a:solidFill>
              </a:rPr>
              <a:t>Mobile App Device Integrity Gate</a:t>
            </a:r>
            <a:br>
              <a:rPr b="1"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Deploy client-side hardware attestation checks to restrict high-ticket transactions on devices where </a:t>
            </a:r>
            <a:r>
              <a:rPr lang="en" sz="1400">
                <a:solidFill>
                  <a:srgbClr val="188038"/>
                </a:solidFill>
              </a:rPr>
              <a:t>is_rooted = TRUE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 sz="1400">
                <a:solidFill>
                  <a:schemeClr val="dk1"/>
                </a:solidFill>
              </a:rPr>
              <a:t>Business Impact:</a:t>
            </a:r>
            <a:r>
              <a:rPr lang="en" sz="1400">
                <a:solidFill>
                  <a:schemeClr val="dk1"/>
                </a:solidFill>
              </a:rPr>
              <a:t> </a:t>
            </a:r>
            <a:r>
              <a:rPr b="1" lang="en" sz="1400">
                <a:solidFill>
                  <a:schemeClr val="dk1"/>
                </a:solidFill>
              </a:rPr>
              <a:t>60% reduction in high-risk fraud alerts</a:t>
            </a:r>
            <a:r>
              <a:rPr lang="en" sz="1400">
                <a:solidFill>
                  <a:schemeClr val="dk1"/>
                </a:solidFill>
              </a:rPr>
              <a:t>, directly </a:t>
            </a:r>
            <a:r>
              <a:rPr b="1" lang="en" sz="1400">
                <a:solidFill>
                  <a:schemeClr val="dk1"/>
                </a:solidFill>
              </a:rPr>
              <a:t>preserving $4,443.62</a:t>
            </a:r>
            <a:r>
              <a:rPr lang="en" sz="1400">
                <a:solidFill>
                  <a:schemeClr val="dk1"/>
                </a:solidFill>
              </a:rPr>
              <a:t> in active dataset loss exposure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Framework 2: Targeted Utility Billing Conversion</a:t>
            </a:r>
            <a:br>
              <a:rPr b="1"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Launch automated app-side due-date prompts and loyalty incentives to convert low-margin P2P users into recurring utility workflows.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i="1" lang="en" sz="1400">
                <a:solidFill>
                  <a:schemeClr val="dk1"/>
                </a:solidFill>
              </a:rPr>
              <a:t>Business Impact:</a:t>
            </a:r>
            <a:r>
              <a:rPr lang="en" sz="1400">
                <a:solidFill>
                  <a:schemeClr val="dk1"/>
                </a:solidFill>
              </a:rPr>
              <a:t> </a:t>
            </a:r>
            <a:r>
              <a:rPr b="1" lang="en" sz="1400">
                <a:solidFill>
                  <a:schemeClr val="dk1"/>
                </a:solidFill>
              </a:rPr>
              <a:t>15% expansion in utility transaction velocity</a:t>
            </a:r>
            <a:r>
              <a:rPr lang="en" sz="1400">
                <a:solidFill>
                  <a:schemeClr val="dk1"/>
                </a:solidFill>
              </a:rPr>
              <a:t>, driving an exact </a:t>
            </a:r>
            <a:r>
              <a:rPr b="1" lang="en" sz="1400">
                <a:solidFill>
                  <a:schemeClr val="dk1"/>
                </a:solidFill>
              </a:rPr>
              <a:t>2.7% growth curve in global ecosystem Average Transaction Value (ATV)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Framework 3: Proactive Support Webhook Triggers</a:t>
            </a:r>
            <a:br>
              <a:rPr b="1"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Implement an automated operational webhook that catches users hitting the 3rd failure threshold, instantly pushing an error-mitigation guide and routing the profile to priority care.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i="1" lang="en" sz="1400">
                <a:solidFill>
                  <a:schemeClr val="dk1"/>
                </a:solidFill>
              </a:rPr>
              <a:t>Business Impact:</a:t>
            </a:r>
            <a:r>
              <a:rPr lang="en" sz="1400">
                <a:solidFill>
                  <a:schemeClr val="dk1"/>
                </a:solidFill>
              </a:rPr>
              <a:t> Projected </a:t>
            </a:r>
            <a:r>
              <a:rPr b="1" lang="en" sz="1400">
                <a:solidFill>
                  <a:schemeClr val="dk1"/>
                </a:solidFill>
              </a:rPr>
              <a:t>18.0% recovery rate of high-friction user profiles</a:t>
            </a:r>
            <a:r>
              <a:rPr lang="en" sz="1400">
                <a:solidFill>
                  <a:schemeClr val="dk1"/>
                </a:solidFill>
              </a:rPr>
              <a:t>, stabilizing customer retention and lifting global platform CSAT toward a </a:t>
            </a:r>
            <a:r>
              <a:rPr b="1" lang="en" sz="1400">
                <a:solidFill>
                  <a:schemeClr val="dk1"/>
                </a:solidFill>
              </a:rPr>
              <a:t>4.10 target mark</a:t>
            </a:r>
            <a:r>
              <a:rPr lang="en">
                <a:solidFill>
                  <a:schemeClr val="dk1"/>
                </a:solidFill>
              </a:rPr>
              <a:t>.</a:t>
            </a:r>
            <a:endParaRPr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929300" y="333825"/>
            <a:ext cx="732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Strategic Next Steps &amp; Open Discussion </a:t>
            </a:r>
            <a:endParaRPr b="1"/>
          </a:p>
        </p:txBody>
      </p:sp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929300" y="1331375"/>
            <a:ext cx="3399300" cy="26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137333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Threat Security:</a:t>
            </a:r>
            <a:r>
              <a:rPr lang="en" sz="1400">
                <a:solidFill>
                  <a:schemeClr val="dk1"/>
                </a:solidFill>
              </a:rPr>
              <a:t> Projected </a:t>
            </a:r>
            <a:r>
              <a:rPr b="1" lang="en" sz="1400">
                <a:solidFill>
                  <a:schemeClr val="dk1"/>
                </a:solidFill>
              </a:rPr>
              <a:t>60% reduction</a:t>
            </a:r>
            <a:r>
              <a:rPr lang="en" sz="1400">
                <a:solidFill>
                  <a:schemeClr val="dk1"/>
                </a:solidFill>
              </a:rPr>
              <a:t> in high-risk alerts (~$4.4K preserved).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7333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Revenue Shift: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b="1" lang="en" sz="1400">
                <a:solidFill>
                  <a:schemeClr val="dk1"/>
                </a:solidFill>
              </a:rPr>
              <a:t>15% expansion</a:t>
            </a:r>
            <a:r>
              <a:rPr lang="en" sz="1400">
                <a:solidFill>
                  <a:schemeClr val="dk1"/>
                </a:solidFill>
              </a:rPr>
              <a:t> in utility workflow velocity (+2.7% ATV growth).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7333"/>
              </a:buClr>
              <a:buSzPts val="1400"/>
              <a:buChar char="●"/>
            </a:pPr>
            <a:r>
              <a:rPr b="1" lang="en" sz="1600">
                <a:solidFill>
                  <a:schemeClr val="dk1"/>
                </a:solidFill>
              </a:rPr>
              <a:t>User Retention:</a:t>
            </a:r>
            <a:r>
              <a:rPr lang="en" sz="1400">
                <a:solidFill>
                  <a:schemeClr val="dk1"/>
                </a:solidFill>
              </a:rPr>
              <a:t> </a:t>
            </a:r>
            <a:r>
              <a:rPr b="1" lang="en" sz="1400">
                <a:solidFill>
                  <a:schemeClr val="dk1"/>
                </a:solidFill>
              </a:rPr>
              <a:t>18.0% recovery rate</a:t>
            </a:r>
            <a:r>
              <a:rPr lang="en" sz="1400">
                <a:solidFill>
                  <a:schemeClr val="dk1"/>
                </a:solidFill>
              </a:rPr>
              <a:t> via automated 3+ failure webhooks.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71" name="Google Shape;171;p31"/>
          <p:cNvSpPr txBox="1"/>
          <p:nvPr/>
        </p:nvSpPr>
        <p:spPr>
          <a:xfrm>
            <a:off x="5088825" y="1331450"/>
            <a:ext cx="3160800" cy="2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7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Prepared by: </a:t>
            </a:r>
            <a:r>
              <a:rPr lang="en">
                <a:solidFill>
                  <a:schemeClr val="dk1"/>
                </a:solidFill>
              </a:rPr>
              <a:t>Anurag Kashyap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3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Project Workspace Archive: </a:t>
            </a:r>
            <a:r>
              <a:rPr lang="en">
                <a:solidFill>
                  <a:schemeClr val="dk1"/>
                </a:solidFill>
              </a:rPr>
              <a:t>Desktop/Capstone Project-UPI Transaction Data Analysis/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" name="Google Shape;172;p31"/>
          <p:cNvSpPr txBox="1"/>
          <p:nvPr/>
        </p:nvSpPr>
        <p:spPr>
          <a:xfrm>
            <a:off x="1093300" y="4229100"/>
            <a:ext cx="70368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1"/>
                </a:solidFill>
              </a:rPr>
              <a:t>Thank you for your time. Open for questions and pipeline deployment clearance. </a:t>
            </a:r>
            <a:endParaRPr b="1"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